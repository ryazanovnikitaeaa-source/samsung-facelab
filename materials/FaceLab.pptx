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336be1d0784838" /><Relationship Type="http://schemas.openxmlformats.org/officeDocument/2006/relationships/extended-properties" Target="/docProps/app.xml" Id="Rf464110d7034413a" /><Relationship Type="http://schemas.openxmlformats.org/officeDocument/2006/relationships/officeDocument" Target="/ppt/presentation.xml" Id="Re09fab3738ea41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52eb577a9e4807"/>
  </p:sldMasterIdLst>
  <p:notesMasterIdLst>
    <p:notesMasterId xmlns:r="http://schemas.openxmlformats.org/officeDocument/2006/relationships" r:id="R0578a1dcf03c454f"/>
  </p:notesMasterIdLst>
  <p:sldIdLst>
    <p:sldId xmlns:r="http://schemas.openxmlformats.org/officeDocument/2006/relationships" id="256" r:id="R6d05c8fa3ae249d1"/>
    <p:sldId xmlns:r="http://schemas.openxmlformats.org/officeDocument/2006/relationships" id="257" r:id="Rde60752de94844dc"/>
    <p:sldId xmlns:r="http://schemas.openxmlformats.org/officeDocument/2006/relationships" id="258" r:id="Rfad122e2c8ea4d09"/>
    <p:sldId xmlns:r="http://schemas.openxmlformats.org/officeDocument/2006/relationships" id="259" r:id="R1f9131d226f14201"/>
    <p:sldId xmlns:r="http://schemas.openxmlformats.org/officeDocument/2006/relationships" id="260" r:id="R84f008190f9249bd"/>
    <p:sldId xmlns:r="http://schemas.openxmlformats.org/officeDocument/2006/relationships" id="261" r:id="R9357c6d2d6f74123"/>
    <p:sldId xmlns:r="http://schemas.openxmlformats.org/officeDocument/2006/relationships" id="262" r:id="R90383ff1197d40d6"/>
    <p:sldId xmlns:r="http://schemas.openxmlformats.org/officeDocument/2006/relationships" id="263" r:id="R2f82bf3062824ddb"/>
    <p:sldId xmlns:r="http://schemas.openxmlformats.org/officeDocument/2006/relationships" id="264" r:id="R0b06775292644387"/>
    <p:sldId xmlns:r="http://schemas.openxmlformats.org/officeDocument/2006/relationships" id="265" r:id="R0617e06608664f2c"/>
    <p:sldId xmlns:r="http://schemas.openxmlformats.org/officeDocument/2006/relationships" id="266" r:id="R230206e287a947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eb97bd9e784247" /><Relationship Type="http://schemas.openxmlformats.org/officeDocument/2006/relationships/slideMaster" Target="/ppt/slideMasters/slideMaster1.xml" Id="Rbb52eb577a9e4807" /><Relationship Type="http://schemas.openxmlformats.org/officeDocument/2006/relationships/notesMaster" Target="/ppt/notesMasters/notesMaster1.xml" Id="R0578a1dcf03c454f" /><Relationship Type="http://schemas.openxmlformats.org/officeDocument/2006/relationships/presProps" Target="/ppt/presProps.xml" Id="Rb0af2b1c17e0401c" /><Relationship Type="http://schemas.openxmlformats.org/officeDocument/2006/relationships/tableStyles" Target="/ppt/tableStyles.xml" Id="R6d9c15fb4dbf4390" /><Relationship Type="http://schemas.openxmlformats.org/officeDocument/2006/relationships/slide" Target="/ppt/slides/slide1.xml" Id="R6d05c8fa3ae249d1" /><Relationship Type="http://schemas.openxmlformats.org/officeDocument/2006/relationships/slide" Target="/ppt/slides/slide2.xml" Id="Rde60752de94844dc" /><Relationship Type="http://schemas.openxmlformats.org/officeDocument/2006/relationships/slide" Target="/ppt/slides/slide3.xml" Id="Rfad122e2c8ea4d09" /><Relationship Type="http://schemas.openxmlformats.org/officeDocument/2006/relationships/slide" Target="/ppt/slides/slide4.xml" Id="R1f9131d226f14201" /><Relationship Type="http://schemas.openxmlformats.org/officeDocument/2006/relationships/slide" Target="/ppt/slides/slide5.xml" Id="R84f008190f9249bd" /><Relationship Type="http://schemas.openxmlformats.org/officeDocument/2006/relationships/slide" Target="/ppt/slides/slide6.xml" Id="R9357c6d2d6f74123" /><Relationship Type="http://schemas.openxmlformats.org/officeDocument/2006/relationships/slide" Target="/ppt/slides/slide7.xml" Id="R90383ff1197d40d6" /><Relationship Type="http://schemas.openxmlformats.org/officeDocument/2006/relationships/slide" Target="/ppt/slides/slide8.xml" Id="R2f82bf3062824ddb" /><Relationship Type="http://schemas.openxmlformats.org/officeDocument/2006/relationships/slide" Target="/ppt/slides/slide9.xml" Id="R0b06775292644387" /><Relationship Type="http://schemas.openxmlformats.org/officeDocument/2006/relationships/slide" Target="/ppt/slides/slide10.xml" Id="R0617e06608664f2c" /><Relationship Type="http://schemas.openxmlformats.org/officeDocument/2006/relationships/slide" Target="/ppt/slides/slide11.xml" Id="R230206e287a947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28d0847cc447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f37046b172475a" /><Relationship Type="http://schemas.openxmlformats.org/officeDocument/2006/relationships/notesMaster" Target="/ppt/notesMasters/notesMaster1.xml" Id="R2f3998a5d30148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38a4e568f34a4d" /><Relationship Type="http://schemas.openxmlformats.org/officeDocument/2006/relationships/notesMaster" Target="/ppt/notesMasters/notesMaster1.xml" Id="R240b367c625541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f05e3b771c4fb6" /><Relationship Type="http://schemas.openxmlformats.org/officeDocument/2006/relationships/notesMaster" Target="/ppt/notesMasters/notesMaster1.xml" Id="R2b49c673bdb445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b26c1e08964a54" /><Relationship Type="http://schemas.openxmlformats.org/officeDocument/2006/relationships/notesMaster" Target="/ppt/notesMasters/notesMaster1.xml" Id="Rdee15ba082aa45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786c82310a49c7" /><Relationship Type="http://schemas.openxmlformats.org/officeDocument/2006/relationships/notesMaster" Target="/ppt/notesMasters/notesMaster1.xml" Id="R54fa778b512b4a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3ce2e88c3346f7" /><Relationship Type="http://schemas.openxmlformats.org/officeDocument/2006/relationships/notesMaster" Target="/ppt/notesMasters/notesMaster1.xml" Id="R3facfbd69a904a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8e80631b2c4df8" /><Relationship Type="http://schemas.openxmlformats.org/officeDocument/2006/relationships/notesMaster" Target="/ppt/notesMasters/notesMaster1.xml" Id="R53cf516a58814f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d5ee0ed29046b8" /><Relationship Type="http://schemas.openxmlformats.org/officeDocument/2006/relationships/notesMaster" Target="/ppt/notesMasters/notesMaster1.xml" Id="Rff7c7c99db564f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e582b5a7b745ea" /><Relationship Type="http://schemas.openxmlformats.org/officeDocument/2006/relationships/notesMaster" Target="/ppt/notesMasters/notesMaster1.xml" Id="R1c6587ebb35543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073d807f3642d2" /><Relationship Type="http://schemas.openxmlformats.org/officeDocument/2006/relationships/notesMaster" Target="/ppt/notesMasters/notesMaster1.xml" Id="R117294bb8e7546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7ef67371a84569" /><Relationship Type="http://schemas.openxmlformats.org/officeDocument/2006/relationships/notesMaster" Target="/ppt/notesMasters/notesMaster1.xml" Id="R8b884a4ecb1f4c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Представить тему № 2 «Распознавание лиц». Система сравнивает снимки только с локальной базой эталонов. До окончательной защиты указать автора и группу. В презентации текущий статус экспериментов отражён прямо, финальная точность пока не измерена.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Сценарий: пользователь добавляет знакомых и находит их на новых фотографиях. Важно различать обнаружение лица и установление совпадения с базой. Предусмотрен отказ, а исходные проверяемые фотографии не сохраняются. Приложение предназначено для небольшой локальной коллекции, а не для идентификации всех людей или системы прохода.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сделан в работающем приложении. В базе один технический портрет Эйлин Коллинз. В групповом коллаже два лица: зарегистрированное узнаётся, другой портрет получает «Неизвестный». Показатели сходства не являются вероятностями. Это демонстрация поведения, а не независимая оценка качества. Источники изображений: https://scikit-image.org/docs/stable/api/skimage.data.html#skimage.data.astronaut и https://github.com/matplotlib/matplotlib/blob/v3.10.0/lib/matplotlib/mpl-data/sample_data/grace_hopper.jpg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 реализована в facelab/vision.py, matching.py и service.py. Пять этапов: декодирование с учётом ориентации и ограничений размера, обнаружение YuNet, выравнивание SFace, извлечение и нормирование вектора, косинусное сравнение с эталонами и отказ по порогу. Источник интерфейсов моделей: https://docs.opencv.org/4.x/d0/dd4/tutorial_dnn_face.html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YuNet используется для обнаружения, SFace для извлечения признаков. Обе модели выполняются через OpenCV на CPU. Веса в проекте не обучались заново. Регистрация человека только сохраняет признаки эталонных снимков. Лицензии конкретных моделей: YuNet MIT, SFace Apache-2.0. Исходники: https://github.com/opencv/opencv_zoo/tree/main/models/face_detection_yunet</a:t>
            </a:r>
          </a:p>
          <a:p xmlns:a="http://schemas.openxmlformats.org/drawingml/2006/main">
            <a:r>
              <a:t>https://github.com/opencv/opencv_zoo/tree/main/models/face_recognition_sface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Пользовательские снимки ещё не предоставлены. План: участники с согласием, несколько независимых сессий, неизвестные люди вне базы. Эталоны, валидация и итоговый тест раздельны. При недостатке данных лучше сохранить начальный порог и оценить его на отдельном тесте без подбора. Технические портреты из NASA/scikit-image и Matplotlib служат только проверке работоспособности. Источники демонстрации: https://scikit-image.org/docs/stable/api/skimage.data.html#skimage.data.astronaut</a:t>
            </a:r>
          </a:p>
          <a:p xmlns:a="http://schemas.openxmlformats.org/drawingml/2006/main">
            <a:r>
              <a:t>https://github.com/matplotlib/matplotlib/blob/v3.10.0/lib/matplotlib/mpl-data/sample_data/grace_hopper.jpg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matching.py каждый вектор нормируется, затем вычисляется скалярное произведение. Для человека выбирается максимум среди его эталонов и всех людей. 0.363 — исходный порог из руководства OpenCV для SFace на LFW. Это верификация пар, тогда как здесь поиск 1:N, поэтому необходима собственная валидация. Сходство не является вероятностью. Источник: https://docs.opencv.org/4.x/d0/dd4/tutorial_dnn_face.html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Результаты scripts/smoke_models.py подтверждают четыре технических сценария с настоящими ONNX-моделями. Первый использует изменённую копию эталонного фото, поэтому не является независимым тестом узнавания. Второй портрет используется для проверки отказа. Пустой кадр и групповой коллаж проверяют обработку результатов детектора. Автотесты отдельно проверяют прикладную логику и HTTP API. Не следует выдавать эти тесты за точность на целевом наборе.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Сравнение относится к архитектурным подходам, а не к измеренному превосходству над конкретными продуктами. Обучение с нуля требует обучающего набора и вычислений. Внешний облачный API связан с передачей снимков внешнему сервису. Локальные предобученные модели соответствуют согласованному сценарию небольшого учебного приложения. Собственный вклад: интеграция, база, интерфейс, отказ, проверка и отчёты. При разработке использовался ИИ-ассистент.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Модель может ошибаться при сложном освещении, ракурсе, перекрытии и похожих лицах. Система не содержит проверку живости, поэтому не предназначена для контроля доступа. Следующие шаги: личный набор с независимыми тестами, анализ ошибок, валидация порога и фильтрация плохих эталонов. Модуль видео не входит в текущую согласованную версию.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Полные ссылки и копии лицензий находятся в docs/sources.md и licenses/. https://docs.opencv.org/4.x/d0/dd4/tutorial_dnn_face.html</a:t>
            </a:r>
          </a:p>
          <a:p xmlns:a="http://schemas.openxmlformats.org/drawingml/2006/main">
            <a:r>
              <a:t>https://github.com/opencv/opencv_zoo/tree/main/models/face_detection_yunet</a:t>
            </a:r>
          </a:p>
          <a:p xmlns:a="http://schemas.openxmlformats.org/drawingml/2006/main">
            <a:r>
              <a:t>https://github.com/opencv/opencv_zoo/tree/main/models/face_recognition_sface</a:t>
            </a:r>
          </a:p>
          <a:p xmlns:a="http://schemas.openxmlformats.org/drawingml/2006/main">
            <a:r>
              <a:t>https://scikit-image.org/docs/stable/api/skimage.data.html#skimage.data.astronaut</a:t>
            </a:r>
          </a:p>
          <a:p xmlns:a="http://schemas.openxmlformats.org/drawingml/2006/main">
            <a:r>
              <a:t>https://github.com/matplotlib/matplotlib/blob/v3.10.0/lib/matplotlib/mpl-data/sample_data/grace_hopper.jpg</a:t>
            </a:r>
          </a:p>
          <a:p xmlns:a="http://schemas.openxmlformats.org/drawingml/2006/main">
            <a:r>
              <a:t>Разработка приложения и материалов выполнена с помощью ИИ-ассистента Codex. Нельзя заявлять обучение используемых моделей с нуля.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a4fb0ab35546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1eac7e9a09444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366bed6fd0463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cf0960f7ea49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f879cff0a1444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694462f5ec45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E77B3C-5079-4C22-A78B-4B6E531149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E9511D1-6784-413E-841D-F9F38446C96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D279CA1-0709-467F-BE67-C59B06CC25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C81A77-36EC-4B87-BBE8-3465EB6C4A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E55D2C1-DE7D-496F-830A-B61C388E68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06C5A2-FA98-4411-8DB4-58C918054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5F438E-5AB7-4839-8306-E67C42FC6B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B373EB7-FC08-40A3-9D78-1F316D745D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4A0415-F76F-4DD1-9F70-84A4A7A370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C94009-F20D-41F6-B737-FF02CACFBD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53b16ee72948de" /><Relationship Type="http://schemas.openxmlformats.org/officeDocument/2006/relationships/slideLayout" Target="/ppt/slideLayouts/slideLayout1.xml" Id="Re0866212db2349fe" /><Relationship Type="http://schemas.openxmlformats.org/officeDocument/2006/relationships/slideLayout" Target="/ppt/slideLayouts/slideLayout2.xml" Id="Radf23d6df64745da" /><Relationship Type="http://schemas.openxmlformats.org/officeDocument/2006/relationships/slideLayout" Target="/ppt/slideLayouts/slideLayout3.xml" Id="R8d56289fd65a4be1" /><Relationship Type="http://schemas.openxmlformats.org/officeDocument/2006/relationships/slideLayout" Target="/ppt/slideLayouts/slideLayout4.xml" Id="R0a687037b8784950" /><Relationship Type="http://schemas.openxmlformats.org/officeDocument/2006/relationships/slideLayout" Target="/ppt/slideLayouts/slideLayout5.xml" Id="Re8dc0a57881d48b9" /><Relationship Type="http://schemas.openxmlformats.org/officeDocument/2006/relationships/slideLayout" Target="/ppt/slideLayouts/slideLayout6.xml" Id="R1873dd201c7641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866212db2349fe"/>
    <p:sldLayoutId xmlns:r="http://schemas.openxmlformats.org/officeDocument/2006/relationships" id="2147483650" r:id="Radf23d6df64745da"/>
    <p:sldLayoutId xmlns:r="http://schemas.openxmlformats.org/officeDocument/2006/relationships" id="2147483651" r:id="R8d56289fd65a4be1"/>
    <p:sldLayoutId xmlns:r="http://schemas.openxmlformats.org/officeDocument/2006/relationships" id="2147483652" r:id="R0a687037b8784950"/>
    <p:sldLayoutId xmlns:r="http://schemas.openxmlformats.org/officeDocument/2006/relationships" id="2147483653" r:id="Re8dc0a57881d48b9"/>
    <p:sldLayoutId xmlns:r="http://schemas.openxmlformats.org/officeDocument/2006/relationships" id="2147483654" r:id="R1873dd201c7641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06df1d73fa4ef2" /><Relationship Type="http://schemas.openxmlformats.org/officeDocument/2006/relationships/image" Target="/ppt/media/image.png" Id="R655dee4c21164f02" /><Relationship Type="http://schemas.openxmlformats.org/officeDocument/2006/relationships/notesSlide" Target="/ppt/notesSlides/notesSlide1.xml" Id="R608c4cd8ca9049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3d3c656db24825" /><Relationship Type="http://schemas.openxmlformats.org/officeDocument/2006/relationships/notesSlide" Target="/ppt/notesSlides/notesSlide2.xml" Id="R428d04cdc7654b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221f498d504e39" /><Relationship Type="http://schemas.openxmlformats.org/officeDocument/2006/relationships/image" Target="/ppt/media/image2.png" Id="R1df14a8e394b4b2d" /><Relationship Type="http://schemas.openxmlformats.org/officeDocument/2006/relationships/notesSlide" Target="/ppt/notesSlides/notesSlide3.xml" Id="Ra6d78be5650c4e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06a2ff601c4a72" /><Relationship Type="http://schemas.openxmlformats.org/officeDocument/2006/relationships/notesSlide" Target="/ppt/notesSlides/notesSlide4.xml" Id="R6b01dca965dd42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6b556d13924c83" /><Relationship Type="http://schemas.openxmlformats.org/officeDocument/2006/relationships/notesSlide" Target="/ppt/notesSlides/notesSlide5.xml" Id="R569c342277f347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5ad5b82a384653" /><Relationship Type="http://schemas.openxmlformats.org/officeDocument/2006/relationships/notesSlide" Target="/ppt/notesSlides/notesSlide6.xml" Id="R938239fd1f6e46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d6548e6c644482" /><Relationship Type="http://schemas.openxmlformats.org/officeDocument/2006/relationships/notesSlide" Target="/ppt/notesSlides/notesSlide7.xml" Id="R98fdbc40a8de46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2bb54383344a19" /><Relationship Type="http://schemas.openxmlformats.org/officeDocument/2006/relationships/notesSlide" Target="/ppt/notesSlides/notesSlide8.xml" Id="Rd3aed7bd466e41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c3f8642f2b4681" /><Relationship Type="http://schemas.openxmlformats.org/officeDocument/2006/relationships/notesSlide" Target="/ppt/notesSlides/notesSlide9.xml" Id="R42a4225df6b241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9ed7e16b5e4c66" /><Relationship Type="http://schemas.openxmlformats.org/officeDocument/2006/relationships/notesSlide" Target="/ppt/notesSlides/notesSlide10.xml" Id="R292999eaa15f4e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e9710917e54ee2" /><Relationship Type="http://schemas.openxmlformats.org/officeDocument/2006/relationships/notesSlide" Target="/ppt/notesSlides/notesSlide11.xml" Id="R8bb85174e68147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3C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61172-EDB9-47C7-9974-FF6902AB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defPPr>
            <a:lvl1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1pPr>
            <a:lvl2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2pPr>
            <a:lvl3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3pPr>
            <a:lvl4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4pPr>
            <a:lvl5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5pPr>
            <a:lvl6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6pPr>
            <a:lvl7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7pPr>
            <a:lvl8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8pPr>
            <a:lvl9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7BCA3"/>
                </a:solidFill>
                <a:latin typeface="Segoe UI"/>
                <a:ea typeface="Segoe UI"/>
                <a:cs typeface="Segoe UI"/>
              </a:rPr>
              <a:t>FaceLab   /   Samsung Innovation Campus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94066-EBFE-4F05-B794-E72E1E6B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defPPr>
            <a:lvl1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1pPr>
            <a:lvl2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2pPr>
            <a:lvl3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3pPr>
            <a:lvl4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4pPr>
            <a:lvl5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5pPr>
            <a:lvl6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6pPr>
            <a:lvl7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7pPr>
            <a:lvl8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8pPr>
            <a:lvl9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7BCA3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75441-16F4-4A18-9ED0-E3D5B140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571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10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defPPr>
            <a:lvl1pPr>
              <a:defRPr sz="810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1pPr>
            <a:lvl2pPr>
              <a:defRPr sz="810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2pPr>
            <a:lvl3pPr>
              <a:defRPr sz="810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3pPr>
            <a:lvl4pPr>
              <a:defRPr sz="810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4pPr>
            <a:lvl5pPr>
              <a:defRPr sz="810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5pPr>
            <a:lvl6pPr>
              <a:defRPr sz="810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6pPr>
            <a:lvl7pPr>
              <a:defRPr sz="810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7pPr>
            <a:lvl8pPr>
              <a:defRPr sz="810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8pPr>
            <a:lvl9pPr>
              <a:defRPr sz="810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810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pPr>
            <a:r>
              <a:rPr sz="8100" b="1">
                <a:solidFill>
                  <a:srgbClr val="F5F5EF"/>
                </a:solidFill>
                <a:latin typeface="Segoe UI"/>
                <a:ea typeface="Segoe UI"/>
                <a:cs typeface="Segoe UI"/>
              </a:rPr>
              <a:t>FaceLab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9AF31-DDE0-4704-9F54-A5B20C49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0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0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0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0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0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0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0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0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0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pPr>
            <a:r>
              <a:rPr sz="3300" b="0">
                <a:solidFill>
                  <a:srgbClr val="CEEE80"/>
                </a:solidFill>
                <a:latin typeface="Segoe UI"/>
                <a:ea typeface="Segoe UI"/>
                <a:cs typeface="Segoe UI"/>
              </a:rPr>
              <a:t>Локальное распознавание</a:t>
            </a:r>
          </a:p>
          <a:p xmlns:a="http://schemas.openxmlformats.org/drawingml/2006/main">
            <a:pPr>
              <a:defRPr sz="3300" b="0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pPr>
            <a:r>
              <a:rPr sz="3300" b="0">
                <a:solidFill>
                  <a:srgbClr val="CEEE80"/>
                </a:solidFill>
                <a:latin typeface="Segoe UI"/>
                <a:ea typeface="Segoe UI"/>
                <a:cs typeface="Segoe UI"/>
              </a:rPr>
              <a:t>лиц на фотографиях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2DDB7-3118-4CEF-B43E-EC1CF54A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B8CCB0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B8CCB0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B8CCB0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B8CCB0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B8CCB0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B8CCB0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B8CCB0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B8CCB0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B8CCB0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B8CCB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CB0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8CCB0"/>
                </a:solidFill>
                <a:latin typeface="Segoe UI"/>
                <a:ea typeface="Segoe UI"/>
                <a:cs typeface="Segoe UI"/>
              </a:rPr>
              <a:t>Индивидуальный проект</a:t>
            </a:r>
          </a:p>
          <a:p xmlns:a="http://schemas.openxmlformats.org/drawingml/2006/main">
            <a:pPr>
              <a:defRPr sz="1875" b="0">
                <a:solidFill>
                  <a:srgbClr val="B8CCB0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8CCB0"/>
                </a:solidFill>
                <a:latin typeface="Segoe UI"/>
                <a:ea typeface="Segoe UI"/>
                <a:cs typeface="Segoe UI"/>
              </a:rPr>
              <a:t>Курс «Искусственный интеллект»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905C3-C3D9-4FB5-B761-F9375D0994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dee4c21164f02"/>
          <a:stretch xmlns:a="http://schemas.openxmlformats.org/drawingml/2006/main"/>
        </p:blipFill>
        <p:spPr>
          <a:xfrm xmlns:a="http://schemas.openxmlformats.org/drawingml/2006/main">
            <a:off x="6819900" y="1692359"/>
            <a:ext cx="4762500" cy="34256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0489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770CB-E442-45EB-94C2-3C495A0E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Задача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51ADB-4D5C-4806-8E01-2B45FAB7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defPPr>
            <a:lvl1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1pPr>
            <a:lvl2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2pPr>
            <a:lvl3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3pPr>
            <a:lvl4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4pPr>
            <a:lvl5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5pPr>
            <a:lvl6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6pPr>
            <a:lvl7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7pPr>
            <a:lvl8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8pPr>
            <a:lvl9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89957F"/>
                </a:solidFill>
                <a:latin typeface="Segoe UI"/>
                <a:ea typeface="Segoe UI"/>
                <a:cs typeface="Segoe UI"/>
              </a:rPr>
              <a:t>FaceLab   /   Samsung Innovation Campus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84A40-8AEA-496D-B9D4-2CAAD067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defPPr>
            <a:lvl1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1pPr>
            <a:lvl2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2pPr>
            <a:lvl3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3pPr>
            <a:lvl4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4pPr>
            <a:lvl5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5pPr>
            <a:lvl6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6pPr>
            <a:lvl7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7pPr>
            <a:lvl8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8pPr>
            <a:lvl9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89957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E32DA-E0A1-406A-9553-6BFBC783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990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322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322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322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322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322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322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322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322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322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3225" b="0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Поиск знакомых людей</a:t>
            </a:r>
          </a:p>
          <a:p xmlns:a="http://schemas.openxmlformats.org/drawingml/2006/main">
            <a:pPr>
              <a:defRPr sz="322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3225" b="0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в небольшой коллекции снимков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710C2-16F3-48B7-996E-5F7DB3F7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Пользователь добавляет имя и несколько портретов.</a:t>
            </a:r>
          </a:p>
          <a:p xmlns:a="http://schemas.openxmlformats.org/drawingml/2006/main">
            <a:pPr>
              <a:defRPr sz="22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Приложение находит лица на новом фото и показывает</a:t>
            </a:r>
          </a:p>
          <a:p xmlns:a="http://schemas.openxmlformats.org/drawingml/2006/main">
            <a:pPr>
              <a:defRPr sz="22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имя либо метку «Неизвестный».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7B0EA-C7D7-4563-93B8-BE424B9D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Все вычисления и эталоны остаются на компьютере</a:t>
            </a:r>
          </a:p>
        </p:txBody>
      </p:sp>
    </p:spTree>
    <p:extLst>
      <p:ext uri="{BB962C8B-B14F-4D97-AF65-F5344CB8AC3E}">
        <p14:creationId xmlns:p14="http://schemas.microsoft.com/office/powerpoint/2010/main" val="4518617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4FD57-3F85-4F51-99C0-EB4B08C7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Демонстрация приложения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C1374-F36F-4A25-9BFF-94C834F1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defPPr>
            <a:lvl1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1pPr>
            <a:lvl2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2pPr>
            <a:lvl3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3pPr>
            <a:lvl4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4pPr>
            <a:lvl5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5pPr>
            <a:lvl6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6pPr>
            <a:lvl7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7pPr>
            <a:lvl8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8pPr>
            <a:lvl9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89957F"/>
                </a:solidFill>
                <a:latin typeface="Segoe UI"/>
                <a:ea typeface="Segoe UI"/>
                <a:cs typeface="Segoe UI"/>
              </a:rPr>
              <a:t>FaceLab   /   Samsung Innovation Campus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FB195-260C-4B0D-A1E2-46108195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defPPr>
            <a:lvl1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1pPr>
            <a:lvl2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2pPr>
            <a:lvl3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3pPr>
            <a:lvl4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4pPr>
            <a:lvl5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5pPr>
            <a:lvl6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6pPr>
            <a:lvl7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7pPr>
            <a:lvl8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8pPr>
            <a:lvl9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89957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2566D-F13A-4B0B-8DCA-67CDDBFF58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14a8e394b4b2d"/>
          <a:stretch xmlns:a="http://schemas.openxmlformats.org/drawingml/2006/main"/>
        </p:blipFill>
        <p:spPr>
          <a:xfrm xmlns:a="http://schemas.openxmlformats.org/drawingml/2006/main">
            <a:off x="6383245" y="1581150"/>
            <a:ext cx="4807134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EB17F-BC57-4B30-913D-9694E808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Знакомый человек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8C21F-A3DC-41D3-A37C-8D872B44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Имя из локальной базы</a:t>
            </a:r>
          </a:p>
          <a:p xmlns:a="http://schemas.openxmlformats.org/drawingml/2006/main">
            <a: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и значение сходства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F47D0-CA24-4A7F-ADDA-B9A1E1C0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Неизвестный человек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99BF2-99F7-4B48-B7EE-9F418561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Отказ при недостаточном</a:t>
            </a:r>
          </a:p>
          <a:p xmlns:a="http://schemas.openxmlformats.org/drawingml/2006/main">
            <a: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сходстве с эталонами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04BE1-CD38-4884-B8EA-30489DA5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defPPr>
            <a:lvl1pPr>
              <a:defRPr sz="13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1pPr>
            <a:lvl2pPr>
              <a:defRPr sz="13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2pPr>
            <a:lvl3pPr>
              <a:defRPr sz="13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3pPr>
            <a:lvl4pPr>
              <a:defRPr sz="13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4pPr>
            <a:lvl5pPr>
              <a:defRPr sz="13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5pPr>
            <a:lvl6pPr>
              <a:defRPr sz="13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6pPr>
            <a:lvl7pPr>
              <a:defRPr sz="13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7pPr>
            <a:lvl8pPr>
              <a:defRPr sz="13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8pPr>
            <a:lvl9pPr>
              <a:defRPr sz="13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Открытые технические портреты NASA и ВМС США</a:t>
            </a:r>
          </a:p>
        </p:txBody>
      </p:sp>
    </p:spTree>
    <p:extLst>
      <p:ext uri="{BB962C8B-B14F-4D97-AF65-F5344CB8AC3E}">
        <p14:creationId xmlns:p14="http://schemas.microsoft.com/office/powerpoint/2010/main" val="5950783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7D4E2-2F5E-4002-8D38-8D68362C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Конвейер обработки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7B4F4-19AF-4753-BA95-32D65286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defPPr>
            <a:lvl1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1pPr>
            <a:lvl2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2pPr>
            <a:lvl3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3pPr>
            <a:lvl4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4pPr>
            <a:lvl5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5pPr>
            <a:lvl6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6pPr>
            <a:lvl7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7pPr>
            <a:lvl8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8pPr>
            <a:lvl9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89957F"/>
                </a:solidFill>
                <a:latin typeface="Segoe UI"/>
                <a:ea typeface="Segoe UI"/>
                <a:cs typeface="Segoe UI"/>
              </a:rPr>
              <a:t>FaceLab   /   Samsung Innovation Campus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C3626-10C7-47AB-9683-D0DB9CAA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defPPr>
            <a:lvl1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1pPr>
            <a:lvl2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2pPr>
            <a:lvl3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3pPr>
            <a:lvl4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4pPr>
            <a:lvl5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5pPr>
            <a:lvl6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6pPr>
            <a:lvl7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7pPr>
            <a:lvl8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8pPr>
            <a:lvl9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89957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AFE7C-4199-4155-BA56-1C923B9E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8BA273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EB3B8-A875-4B94-AEAE-629B646E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145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Чтение снимка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E59D9-4BB6-4D5D-8027-EA2E2B68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743075"/>
            <a:ext cx="600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Ориентация, размер и корректность файла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9F587-BC00-4C12-A539-1EFCCF48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8BA273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EF6D3-0390-43B1-A4F3-98AF3C40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Обнаружение лиц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AC95C-C545-4D74-AFAA-A296D014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581275"/>
            <a:ext cx="600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YuNet находит лица и опорные точки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38D71-C556-4DAC-858D-D267AD9B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8BA273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5C043-FEDA-4E8A-BD54-11049147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909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Выравнивание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2CC74-4094-425D-9A18-3425A059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419475"/>
            <a:ext cx="600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SFace подготавливает каждый портрет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C3FC9-0881-4F08-B873-11B11BF8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8BA273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779A3-05A4-489D-9C95-7079DF1C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291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Признаки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0A3AD0-403C-4AFB-B6DC-0D0D562B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257675"/>
            <a:ext cx="600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Нормированный вектор из 128 чисел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39EF9-3387-4DE3-B499-70F2A432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8BA273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8BA273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F8E396-6F61-4BBF-BB4C-03160FCB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Сравнение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1EEB39-6AF0-4401-8748-4AFE997A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095875"/>
            <a:ext cx="600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Лучший эталон и решение по порогу</a:t>
            </a:r>
          </a:p>
        </p:txBody>
      </p:sp>
    </p:spTree>
    <p:extLst>
      <p:ext uri="{BB962C8B-B14F-4D97-AF65-F5344CB8AC3E}">
        <p14:creationId xmlns:p14="http://schemas.microsoft.com/office/powerpoint/2010/main" val="19381372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93C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8BF1B-0B18-4858-AD7B-5B7FD8B4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F5EF"/>
                </a:solidFill>
                <a:latin typeface="Segoe UI"/>
                <a:ea typeface="Segoe UI"/>
                <a:cs typeface="Segoe UI"/>
              </a:rPr>
              <a:t>Предобученные модели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83E85-F800-4747-9C74-8DA27778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defPPr>
            <a:lvl1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1pPr>
            <a:lvl2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2pPr>
            <a:lvl3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3pPr>
            <a:lvl4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4pPr>
            <a:lvl5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5pPr>
            <a:lvl6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6pPr>
            <a:lvl7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7pPr>
            <a:lvl8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8pPr>
            <a:lvl9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7BCA3"/>
                </a:solidFill>
                <a:latin typeface="Segoe UI"/>
                <a:ea typeface="Segoe UI"/>
                <a:cs typeface="Segoe UI"/>
              </a:rPr>
              <a:t>FaceLab   /   Samsung Innovation Campus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1A209-01F3-4A42-AB3F-55B17EDA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defPPr>
            <a:lvl1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1pPr>
            <a:lvl2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2pPr>
            <a:lvl3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3pPr>
            <a:lvl4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4pPr>
            <a:lvl5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5pPr>
            <a:lvl6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6pPr>
            <a:lvl7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7pPr>
            <a:lvl8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8pPr>
            <a:lvl9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7BCA3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72E96-B056-4CFF-9379-C322EE01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650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defPPr>
            <a:lvl1pPr>
              <a:defRPr sz="4650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1pPr>
            <a:lvl2pPr>
              <a:defRPr sz="4650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2pPr>
            <a:lvl3pPr>
              <a:defRPr sz="4650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3pPr>
            <a:lvl4pPr>
              <a:defRPr sz="4650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4pPr>
            <a:lvl5pPr>
              <a:defRPr sz="4650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5pPr>
            <a:lvl6pPr>
              <a:defRPr sz="4650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6pPr>
            <a:lvl7pPr>
              <a:defRPr sz="4650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7pPr>
            <a:lvl8pPr>
              <a:defRPr sz="4650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8pPr>
            <a:lvl9pPr>
              <a:defRPr sz="4650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pPr>
            <a:r>
              <a:rPr sz="4650" b="1">
                <a:solidFill>
                  <a:srgbClr val="CEEE80"/>
                </a:solidFill>
                <a:latin typeface="Segoe UI"/>
                <a:ea typeface="Segoe UI"/>
                <a:cs typeface="Segoe UI"/>
              </a:rPr>
              <a:t>YuNet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BE159-9741-4654-A5B1-2C1F9680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E4EDDD"/>
                </a:solidFill>
                <a:latin typeface="Segoe UI"/>
                <a:ea typeface="Segoe UI"/>
                <a:cs typeface="Segoe UI"/>
              </a:defRPr>
            </a:defPPr>
            <a:lvl1pPr>
              <a:defRPr sz="2475" b="0">
                <a:solidFill>
                  <a:srgbClr val="E4EDDD"/>
                </a:solidFill>
                <a:latin typeface="Segoe UI"/>
                <a:ea typeface="Segoe UI"/>
                <a:cs typeface="Segoe UI"/>
              </a:defRPr>
            </a:lvl1pPr>
            <a:lvl2pPr>
              <a:defRPr sz="2475" b="0">
                <a:solidFill>
                  <a:srgbClr val="E4EDDD"/>
                </a:solidFill>
                <a:latin typeface="Segoe UI"/>
                <a:ea typeface="Segoe UI"/>
                <a:cs typeface="Segoe UI"/>
              </a:defRPr>
            </a:lvl2pPr>
            <a:lvl3pPr>
              <a:defRPr sz="2475" b="0">
                <a:solidFill>
                  <a:srgbClr val="E4EDDD"/>
                </a:solidFill>
                <a:latin typeface="Segoe UI"/>
                <a:ea typeface="Segoe UI"/>
                <a:cs typeface="Segoe UI"/>
              </a:defRPr>
            </a:lvl3pPr>
            <a:lvl4pPr>
              <a:defRPr sz="2475" b="0">
                <a:solidFill>
                  <a:srgbClr val="E4EDDD"/>
                </a:solidFill>
                <a:latin typeface="Segoe UI"/>
                <a:ea typeface="Segoe UI"/>
                <a:cs typeface="Segoe UI"/>
              </a:defRPr>
            </a:lvl4pPr>
            <a:lvl5pPr>
              <a:defRPr sz="2475" b="0">
                <a:solidFill>
                  <a:srgbClr val="E4EDDD"/>
                </a:solidFill>
                <a:latin typeface="Segoe UI"/>
                <a:ea typeface="Segoe UI"/>
                <a:cs typeface="Segoe UI"/>
              </a:defRPr>
            </a:lvl5pPr>
            <a:lvl6pPr>
              <a:defRPr sz="2475" b="0">
                <a:solidFill>
                  <a:srgbClr val="E4EDDD"/>
                </a:solidFill>
                <a:latin typeface="Segoe UI"/>
                <a:ea typeface="Segoe UI"/>
                <a:cs typeface="Segoe UI"/>
              </a:defRPr>
            </a:lvl6pPr>
            <a:lvl7pPr>
              <a:defRPr sz="2475" b="0">
                <a:solidFill>
                  <a:srgbClr val="E4EDDD"/>
                </a:solidFill>
                <a:latin typeface="Segoe UI"/>
                <a:ea typeface="Segoe UI"/>
                <a:cs typeface="Segoe UI"/>
              </a:defRPr>
            </a:lvl7pPr>
            <a:lvl8pPr>
              <a:defRPr sz="2475" b="0">
                <a:solidFill>
                  <a:srgbClr val="E4EDDD"/>
                </a:solidFill>
                <a:latin typeface="Segoe UI"/>
                <a:ea typeface="Segoe UI"/>
                <a:cs typeface="Segoe UI"/>
              </a:defRPr>
            </a:lvl8pPr>
            <a:lvl9pPr>
              <a:defRPr sz="2475" b="0">
                <a:solidFill>
                  <a:srgbClr val="E4EDD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E4EDDD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E4EDDD"/>
                </a:solidFill>
                <a:latin typeface="Segoe UI"/>
                <a:ea typeface="Segoe UI"/>
                <a:cs typeface="Segoe UI"/>
              </a:rPr>
              <a:t>Обнаружение лиц</a:t>
            </a:r>
          </a:p>
          <a:p xmlns:a="http://schemas.openxmlformats.org/drawingml/2006/main">
            <a:pPr>
              <a:defRPr sz="2475" b="0">
                <a:solidFill>
                  <a:srgbClr val="E4EDDD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E4EDDD"/>
                </a:solidFill>
                <a:latin typeface="Segoe UI"/>
                <a:ea typeface="Segoe UI"/>
                <a:cs typeface="Segoe UI"/>
              </a:rPr>
              <a:t>и опорных точек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192E8-8ECE-479C-A2F2-D56D95C9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AFC5A6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FC5A6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FC5A6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FC5A6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FC5A6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FC5A6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FC5A6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FC5A6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FC5A6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FC5A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FC5A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FC5A6"/>
                </a:solidFill>
                <a:latin typeface="Segoe UI"/>
                <a:ea typeface="Segoe UI"/>
                <a:cs typeface="Segoe UI"/>
              </a:rPr>
              <a:t>Лицензия MIT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EC2A2-3A88-48E5-8930-7EC44D89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478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650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defPPr>
            <a:lvl1pPr>
              <a:defRPr sz="4650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1pPr>
            <a:lvl2pPr>
              <a:defRPr sz="4650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2pPr>
            <a:lvl3pPr>
              <a:defRPr sz="4650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3pPr>
            <a:lvl4pPr>
              <a:defRPr sz="4650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4pPr>
            <a:lvl5pPr>
              <a:defRPr sz="4650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5pPr>
            <a:lvl6pPr>
              <a:defRPr sz="4650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6pPr>
            <a:lvl7pPr>
              <a:defRPr sz="4650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7pPr>
            <a:lvl8pPr>
              <a:defRPr sz="4650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8pPr>
            <a:lvl9pPr>
              <a:defRPr sz="4650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pPr>
            <a:r>
              <a:rPr sz="4650" b="1">
                <a:solidFill>
                  <a:srgbClr val="CEEE80"/>
                </a:solidFill>
                <a:latin typeface="Segoe UI"/>
                <a:ea typeface="Segoe UI"/>
                <a:cs typeface="Segoe UI"/>
              </a:rPr>
              <a:t>SFace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B2F98-B0EB-4327-BB4C-557C364D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E4EDDD"/>
                </a:solidFill>
                <a:latin typeface="Segoe UI"/>
                <a:ea typeface="Segoe UI"/>
                <a:cs typeface="Segoe UI"/>
              </a:defRPr>
            </a:defPPr>
            <a:lvl1pPr>
              <a:defRPr sz="2475" b="0">
                <a:solidFill>
                  <a:srgbClr val="E4EDDD"/>
                </a:solidFill>
                <a:latin typeface="Segoe UI"/>
                <a:ea typeface="Segoe UI"/>
                <a:cs typeface="Segoe UI"/>
              </a:defRPr>
            </a:lvl1pPr>
            <a:lvl2pPr>
              <a:defRPr sz="2475" b="0">
                <a:solidFill>
                  <a:srgbClr val="E4EDDD"/>
                </a:solidFill>
                <a:latin typeface="Segoe UI"/>
                <a:ea typeface="Segoe UI"/>
                <a:cs typeface="Segoe UI"/>
              </a:defRPr>
            </a:lvl2pPr>
            <a:lvl3pPr>
              <a:defRPr sz="2475" b="0">
                <a:solidFill>
                  <a:srgbClr val="E4EDDD"/>
                </a:solidFill>
                <a:latin typeface="Segoe UI"/>
                <a:ea typeface="Segoe UI"/>
                <a:cs typeface="Segoe UI"/>
              </a:defRPr>
            </a:lvl3pPr>
            <a:lvl4pPr>
              <a:defRPr sz="2475" b="0">
                <a:solidFill>
                  <a:srgbClr val="E4EDDD"/>
                </a:solidFill>
                <a:latin typeface="Segoe UI"/>
                <a:ea typeface="Segoe UI"/>
                <a:cs typeface="Segoe UI"/>
              </a:defRPr>
            </a:lvl4pPr>
            <a:lvl5pPr>
              <a:defRPr sz="2475" b="0">
                <a:solidFill>
                  <a:srgbClr val="E4EDDD"/>
                </a:solidFill>
                <a:latin typeface="Segoe UI"/>
                <a:ea typeface="Segoe UI"/>
                <a:cs typeface="Segoe UI"/>
              </a:defRPr>
            </a:lvl5pPr>
            <a:lvl6pPr>
              <a:defRPr sz="2475" b="0">
                <a:solidFill>
                  <a:srgbClr val="E4EDDD"/>
                </a:solidFill>
                <a:latin typeface="Segoe UI"/>
                <a:ea typeface="Segoe UI"/>
                <a:cs typeface="Segoe UI"/>
              </a:defRPr>
            </a:lvl6pPr>
            <a:lvl7pPr>
              <a:defRPr sz="2475" b="0">
                <a:solidFill>
                  <a:srgbClr val="E4EDDD"/>
                </a:solidFill>
                <a:latin typeface="Segoe UI"/>
                <a:ea typeface="Segoe UI"/>
                <a:cs typeface="Segoe UI"/>
              </a:defRPr>
            </a:lvl7pPr>
            <a:lvl8pPr>
              <a:defRPr sz="2475" b="0">
                <a:solidFill>
                  <a:srgbClr val="E4EDDD"/>
                </a:solidFill>
                <a:latin typeface="Segoe UI"/>
                <a:ea typeface="Segoe UI"/>
                <a:cs typeface="Segoe UI"/>
              </a:defRPr>
            </a:lvl8pPr>
            <a:lvl9pPr>
              <a:defRPr sz="2475" b="0">
                <a:solidFill>
                  <a:srgbClr val="E4EDD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E4EDDD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E4EDDD"/>
                </a:solidFill>
                <a:latin typeface="Segoe UI"/>
                <a:ea typeface="Segoe UI"/>
                <a:cs typeface="Segoe UI"/>
              </a:rPr>
              <a:t>Выравнивание лица</a:t>
            </a:r>
          </a:p>
          <a:p xmlns:a="http://schemas.openxmlformats.org/drawingml/2006/main">
            <a:pPr>
              <a:defRPr sz="2475" b="0">
                <a:solidFill>
                  <a:srgbClr val="E4EDDD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E4EDDD"/>
                </a:solidFill>
                <a:latin typeface="Segoe UI"/>
                <a:ea typeface="Segoe UI"/>
                <a:cs typeface="Segoe UI"/>
              </a:rPr>
              <a:t>и извлечение признаков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F8DE5-125C-4802-90ED-7AC2966C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624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AFC5A6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FC5A6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FC5A6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FC5A6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FC5A6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FC5A6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FC5A6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FC5A6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FC5A6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FC5A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FC5A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FC5A6"/>
                </a:solidFill>
                <a:latin typeface="Segoe UI"/>
                <a:ea typeface="Segoe UI"/>
                <a:cs typeface="Segoe UI"/>
              </a:rPr>
              <a:t>Лицензия Apache-2.0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15620-BC42-4F57-83F8-9058FED4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0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0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0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0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0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0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0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0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0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F5F5EF"/>
                </a:solidFill>
                <a:latin typeface="Segoe UI"/>
                <a:ea typeface="Segoe UI"/>
                <a:cs typeface="Segoe UI"/>
              </a:rPr>
              <a:t>Регистрация новых людей не изменяет веса нейросетей</a:t>
            </a:r>
          </a:p>
        </p:txBody>
      </p:sp>
    </p:spTree>
    <p:extLst>
      <p:ext uri="{BB962C8B-B14F-4D97-AF65-F5344CB8AC3E}">
        <p14:creationId xmlns:p14="http://schemas.microsoft.com/office/powerpoint/2010/main" val="5326580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20A45-EDDD-4AF6-B043-BE5B1B23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Данные и независимая 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E0024-1F48-4746-94EE-39E1A3BC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defPPr>
            <a:lvl1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1pPr>
            <a:lvl2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2pPr>
            <a:lvl3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3pPr>
            <a:lvl4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4pPr>
            <a:lvl5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5pPr>
            <a:lvl6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6pPr>
            <a:lvl7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7pPr>
            <a:lvl8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8pPr>
            <a:lvl9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89957F"/>
                </a:solidFill>
                <a:latin typeface="Segoe UI"/>
                <a:ea typeface="Segoe UI"/>
                <a:cs typeface="Segoe UI"/>
              </a:rPr>
              <a:t>FaceLab   /   Samsung Innovation Campus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E7F3A-D76A-4790-9D30-B0B8816B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defPPr>
            <a:lvl1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1pPr>
            <a:lvl2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2pPr>
            <a:lvl3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3pPr>
            <a:lvl4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4pPr>
            <a:lvl5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5pPr>
            <a:lvl6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6pPr>
            <a:lvl7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7pPr>
            <a:lvl8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8pPr>
            <a:lvl9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89957F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803AD-0B0F-4E6A-8886-4F6CF611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Личный набор участников ещё не собран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20A0D-A112-468C-AB57-2B427A5C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Эталоны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BBD0D-980B-463A-9882-418610EE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62250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Несколько разных портретов для базы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EB3C2-8837-45D2-BCB9-3503AEB3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Валидация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66B71-FA52-4ADF-AFAA-8F4809E3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638550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Новые снимки для выбора порога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E4B92-5EB3-4563-96B7-DE9277DA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Итоговый тест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CAD6F-35AC-47DE-B0F9-2B973F7D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14850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Отдельные снимки после фиксации порога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8D97C-1AC5-4A7E-B4E5-86EA8B94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Копии и соседние кадры одной серии могут завышать оценку</a:t>
            </a:r>
          </a:p>
        </p:txBody>
      </p:sp>
    </p:spTree>
    <p:extLst>
      <p:ext uri="{BB962C8B-B14F-4D97-AF65-F5344CB8AC3E}">
        <p14:creationId xmlns:p14="http://schemas.microsoft.com/office/powerpoint/2010/main" val="16379197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C8FCF-28CC-463C-AFA6-75C4F5C6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Сходство и порог узнавания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2366D-879D-49D5-872F-609902F9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defPPr>
            <a:lvl1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1pPr>
            <a:lvl2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2pPr>
            <a:lvl3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3pPr>
            <a:lvl4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4pPr>
            <a:lvl5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5pPr>
            <a:lvl6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6pPr>
            <a:lvl7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7pPr>
            <a:lvl8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8pPr>
            <a:lvl9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89957F"/>
                </a:solidFill>
                <a:latin typeface="Segoe UI"/>
                <a:ea typeface="Segoe UI"/>
                <a:cs typeface="Segoe UI"/>
              </a:rPr>
              <a:t>FaceLab   /   Samsung Innovation Campus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41613-B509-40F2-811B-F5FC8BCE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defPPr>
            <a:lvl1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1pPr>
            <a:lvl2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2pPr>
            <a:lvl3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3pPr>
            <a:lvl4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4pPr>
            <a:lvl5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5pPr>
            <a:lvl6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6pPr>
            <a:lvl7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7pPr>
            <a:lvl8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8pPr>
            <a:lvl9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89957F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38260-9790-49DD-9189-2D947D10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52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352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352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352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352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352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352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352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352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352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52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3525" b="0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s = max cos(признаки лица, эталон)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5EC45-F63B-4279-8901-A66719B3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29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29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29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29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29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29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29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29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29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s ≥ порог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0C5C5-E264-4765-B721-5591EC24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099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Показать имя кандидата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4CE25-F661-4897-B5B9-01E3AF7A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29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29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29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29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29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29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29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29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29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s &lt; порог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EC704-2A86-41E0-9C17-8CED09F2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95775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Ответить «Неизвестный»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80025-AB5D-433C-A113-38C811A2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Начальная настройка: 0.363. Сходство не равно вероятности.</a:t>
            </a:r>
          </a:p>
        </p:txBody>
      </p:sp>
    </p:spTree>
    <p:extLst>
      <p:ext uri="{BB962C8B-B14F-4D97-AF65-F5344CB8AC3E}">
        <p14:creationId xmlns:p14="http://schemas.microsoft.com/office/powerpoint/2010/main" val="18680491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A768D-9602-458C-BF3A-5B17B08A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Проверка работоспособности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ABD2E-EF82-4CE4-BC16-39BFFE9A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defPPr>
            <a:lvl1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1pPr>
            <a:lvl2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2pPr>
            <a:lvl3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3pPr>
            <a:lvl4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4pPr>
            <a:lvl5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5pPr>
            <a:lvl6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6pPr>
            <a:lvl7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7pPr>
            <a:lvl8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8pPr>
            <a:lvl9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89957F"/>
                </a:solidFill>
                <a:latin typeface="Segoe UI"/>
                <a:ea typeface="Segoe UI"/>
                <a:cs typeface="Segoe UI"/>
              </a:rPr>
              <a:t>FaceLab   /   Samsung Innovation Campus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DCF98-5004-4E59-B691-17D8ACA4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defPPr>
            <a:lvl1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1pPr>
            <a:lvl2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2pPr>
            <a:lvl3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3pPr>
            <a:lvl4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4pPr>
            <a:lvl5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5pPr>
            <a:lvl6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6pPr>
            <a:lvl7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7pPr>
            <a:lvl8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8pPr>
            <a:lvl9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89957F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4F7C5-33C8-45E9-82F1-54780892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Проверены четыре технических сценария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D4842-83E3-46D9-978A-A85B00B7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1.  Изменённая копия эталона получает правильное имя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CC6C0-88E0-4920-B1BA-2BB8E938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2.  Другой портрет получает метку «Неизвестный»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6C00E-1409-4D53-B6DE-C1F50772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3.  Групповой кадр содержит два найденных лица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1713C-A66D-4EFD-9818-1B67582A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4.  Пустое изображение даёт ноль найденных лиц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25E0B-7AD0-43D8-8BB6-581998D2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Финальная точность на независимом пользовательском наборе пока не измерена</a:t>
            </a:r>
          </a:p>
        </p:txBody>
      </p:sp>
    </p:spTree>
    <p:extLst>
      <p:ext uri="{BB962C8B-B14F-4D97-AF65-F5344CB8AC3E}">
        <p14:creationId xmlns:p14="http://schemas.microsoft.com/office/powerpoint/2010/main" val="1963581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CB2FCD-C53F-4958-A4EC-7361DE70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Выбор подхода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199CC-9827-42D5-B60A-5DE7996F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defPPr>
            <a:lvl1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1pPr>
            <a:lvl2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2pPr>
            <a:lvl3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3pPr>
            <a:lvl4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4pPr>
            <a:lvl5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5pPr>
            <a:lvl6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6pPr>
            <a:lvl7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7pPr>
            <a:lvl8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8pPr>
            <a:lvl9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89957F"/>
                </a:solidFill>
                <a:latin typeface="Segoe UI"/>
                <a:ea typeface="Segoe UI"/>
                <a:cs typeface="Segoe UI"/>
              </a:rPr>
              <a:t>FaceLab   /   Samsung Innovation Campus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047B6-2EB4-4C27-8C90-44FC275F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defPPr>
            <a:lvl1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1pPr>
            <a:lvl2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2pPr>
            <a:lvl3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3pPr>
            <a:lvl4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4pPr>
            <a:lvl5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5pPr>
            <a:lvl6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6pPr>
            <a:lvl7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7pPr>
            <a:lvl8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8pPr>
            <a:lvl9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89957F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21633-11D7-4362-B80A-0BDC41C7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Обучение с нуля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0CE2E-D11F-4B4E-B109-0950B388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28800"/>
            <a:ext cx="64389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Нужен большой обучающий набор</a:t>
            </a:r>
          </a:p>
          <a:p xmlns:a="http://schemas.openxmlformats.org/drawingml/2006/main">
            <a: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и отдельный процесс обучения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CFCA3-8D84-4790-A5F8-50E380CB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Облачный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076A3-77EC-4B0D-8E94-D18E0F76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05150"/>
            <a:ext cx="64389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Обработка на внешнем сервисе</a:t>
            </a:r>
          </a:p>
          <a:p xmlns:a="http://schemas.openxmlformats.org/drawingml/2006/main">
            <a: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и зависимость от его доступности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9CA65-B941-4960-A740-CCA1DE7D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Локальная модель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DC528-D5A6-46B2-8308-830EA5E5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81500"/>
            <a:ext cx="64389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Готовые признаки, собственная база</a:t>
            </a:r>
          </a:p>
          <a:p xmlns:a="http://schemas.openxmlformats.org/drawingml/2006/main">
            <a:pPr>
              <a:defRPr sz="210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и работа без облачного сервиса</a:t>
            </a:r>
          </a:p>
        </p:txBody>
      </p:sp>
    </p:spTree>
    <p:extLst>
      <p:ext uri="{BB962C8B-B14F-4D97-AF65-F5344CB8AC3E}">
        <p14:creationId xmlns:p14="http://schemas.microsoft.com/office/powerpoint/2010/main" val="6345132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93C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69405-D6B8-4F2C-A33F-59174DA9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F5EF"/>
                </a:solidFill>
                <a:latin typeface="Segoe UI"/>
                <a:ea typeface="Segoe UI"/>
                <a:cs typeface="Segoe UI"/>
              </a:rPr>
              <a:t>Ограничения и развитие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E8AB3-2B1C-4BE4-A9A7-DCECFFB5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defPPr>
            <a:lvl1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1pPr>
            <a:lvl2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2pPr>
            <a:lvl3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3pPr>
            <a:lvl4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4pPr>
            <a:lvl5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5pPr>
            <a:lvl6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6pPr>
            <a:lvl7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7pPr>
            <a:lvl8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8pPr>
            <a:lvl9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7BCA3"/>
                </a:solidFill>
                <a:latin typeface="Segoe UI"/>
                <a:ea typeface="Segoe UI"/>
                <a:cs typeface="Segoe UI"/>
              </a:rPr>
              <a:t>FaceLab   /   Samsung Innovation Campus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754A2-0FA8-4B77-AA4F-6F9B3F84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defPPr>
            <a:lvl1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1pPr>
            <a:lvl2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2pPr>
            <a:lvl3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3pPr>
            <a:lvl4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4pPr>
            <a:lvl5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5pPr>
            <a:lvl6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6pPr>
            <a:lvl7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7pPr>
            <a:lvl8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8pPr>
            <a:lvl9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7BCA3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A7BCA3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623C0-7751-48F5-AAE4-F284EEF2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75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defPPr>
            <a:lvl1pPr>
              <a:defRPr sz="2775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1pPr>
            <a:lvl2pPr>
              <a:defRPr sz="2775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2pPr>
            <a:lvl3pPr>
              <a:defRPr sz="2775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3pPr>
            <a:lvl4pPr>
              <a:defRPr sz="2775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4pPr>
            <a:lvl5pPr>
              <a:defRPr sz="2775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5pPr>
            <a:lvl6pPr>
              <a:defRPr sz="2775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6pPr>
            <a:lvl7pPr>
              <a:defRPr sz="2775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7pPr>
            <a:lvl8pPr>
              <a:defRPr sz="2775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8pPr>
            <a:lvl9pPr>
              <a:defRPr sz="2775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CEEE80"/>
                </a:solidFill>
                <a:latin typeface="Segoe UI"/>
                <a:ea typeface="Segoe UI"/>
                <a:cs typeface="Segoe UI"/>
              </a:rPr>
              <a:t>Сейчас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ACD8A-6B91-445D-B623-9F3806FA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D8E7D0"/>
                </a:solidFill>
                <a:latin typeface="Segoe UI"/>
                <a:ea typeface="Segoe UI"/>
                <a:cs typeface="Segoe UI"/>
              </a:rPr>
              <a:t>Ошибки при плохих снимках</a:t>
            </a:r>
          </a:p>
          <a:p xmlns:a="http://schemas.openxmlformats.org/drawingml/2006/main">
            <a: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D8E7D0"/>
                </a:solidFill>
                <a:latin typeface="Segoe UI"/>
                <a:ea typeface="Segoe UI"/>
                <a:cs typeface="Segoe UI"/>
              </a:rPr>
              <a:t>и похожих лицах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D8E7D0"/>
                </a:solidFill>
                <a:latin typeface="Segoe UI"/>
                <a:ea typeface="Segoe UI"/>
                <a:cs typeface="Segoe UI"/>
              </a:rPr>
              <a:t>Защиты от предъявления</a:t>
            </a:r>
          </a:p>
          <a:p xmlns:a="http://schemas.openxmlformats.org/drawingml/2006/main">
            <a: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D8E7D0"/>
                </a:solidFill>
                <a:latin typeface="Segoe UI"/>
                <a:ea typeface="Segoe UI"/>
                <a:cs typeface="Segoe UI"/>
              </a:rPr>
              <a:t>фотографии нет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11B6D-952F-497E-AC72-F785B64A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8117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75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defPPr>
            <a:lvl1pPr>
              <a:defRPr sz="2775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1pPr>
            <a:lvl2pPr>
              <a:defRPr sz="2775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2pPr>
            <a:lvl3pPr>
              <a:defRPr sz="2775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3pPr>
            <a:lvl4pPr>
              <a:defRPr sz="2775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4pPr>
            <a:lvl5pPr>
              <a:defRPr sz="2775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5pPr>
            <a:lvl6pPr>
              <a:defRPr sz="2775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6pPr>
            <a:lvl7pPr>
              <a:defRPr sz="2775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7pPr>
            <a:lvl8pPr>
              <a:defRPr sz="2775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8pPr>
            <a:lvl9pPr>
              <a:defRPr sz="2775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CEEE80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CEEE80"/>
                </a:solidFill>
                <a:latin typeface="Segoe UI"/>
                <a:ea typeface="Segoe UI"/>
                <a:cs typeface="Segoe UI"/>
              </a:rPr>
              <a:t>Следующий шаг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54B00-E795-472E-B648-DAD4F0C6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28900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D8E7D0"/>
                </a:solidFill>
                <a:latin typeface="Segoe UI"/>
                <a:ea typeface="Segoe UI"/>
                <a:cs typeface="Segoe UI"/>
              </a:rPr>
              <a:t>Собрать независимый набор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D8E7D0"/>
                </a:solidFill>
                <a:latin typeface="Segoe UI"/>
                <a:ea typeface="Segoe UI"/>
                <a:cs typeface="Segoe UI"/>
              </a:rPr>
              <a:t>Выбрать порог на валидации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D8E7D0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D8E7D0"/>
                </a:solidFill>
                <a:latin typeface="Segoe UI"/>
                <a:ea typeface="Segoe UI"/>
                <a:cs typeface="Segoe UI"/>
              </a:rPr>
              <a:t>Разобрать ошибки на тесте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2AD6B-7EDF-49F2-B1F2-34FDD994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5F5EF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5F5EF"/>
                </a:solidFill>
                <a:latin typeface="Segoe UI"/>
                <a:ea typeface="Segoe UI"/>
                <a:cs typeface="Segoe UI"/>
              </a:rPr>
              <a:t>Область применения: локальная коллекция фотографий</a:t>
            </a:r>
          </a:p>
        </p:txBody>
      </p:sp>
    </p:spTree>
    <p:extLst>
      <p:ext uri="{BB962C8B-B14F-4D97-AF65-F5344CB8AC3E}">
        <p14:creationId xmlns:p14="http://schemas.microsoft.com/office/powerpoint/2010/main" val="6072683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F8234-89E4-4220-B03A-A75B78B2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Источники и вклад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22F1A-64D3-46C1-831A-9C4250FE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defPPr>
            <a:lvl1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1pPr>
            <a:lvl2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2pPr>
            <a:lvl3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3pPr>
            <a:lvl4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4pPr>
            <a:lvl5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5pPr>
            <a:lvl6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6pPr>
            <a:lvl7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7pPr>
            <a:lvl8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8pPr>
            <a:lvl9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89957F"/>
                </a:solidFill>
                <a:latin typeface="Segoe UI"/>
                <a:ea typeface="Segoe UI"/>
                <a:cs typeface="Segoe UI"/>
              </a:rPr>
              <a:t>FaceLab   /   Samsung Innovation Campus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03FEE-CD03-4A9C-B14E-EC0D2F03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defPPr>
            <a:lvl1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1pPr>
            <a:lvl2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2pPr>
            <a:lvl3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3pPr>
            <a:lvl4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4pPr>
            <a:lvl5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5pPr>
            <a:lvl6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6pPr>
            <a:lvl7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7pPr>
            <a:lvl8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8pPr>
            <a:lvl9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9957F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89957F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64DCC-BA51-4D0C-88AF-2FDA29E5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Модели и метод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BAF04-6D41-4BE1-8928-5982AFA1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OpenCV Zoo: YuNet и SFace</a:t>
            </a:r>
          </a:p>
          <a:p xmlns:a="http://schemas.openxmlformats.org/drawingml/2006/main">
            <a: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docs.opencv.org — DNN-based Face Detection And Recognition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F57F1-DD69-4237-8C3A-E2637B26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Демонстрационные данные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A8F82-474B-44A4-B661-3B16FF46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NASA / scikit-image: astronaut</a:t>
            </a:r>
          </a:p>
          <a:p xmlns:a="http://schemas.openxmlformats.org/drawingml/2006/main">
            <a:pPr>
              <a:defRPr sz="1950" b="0">
                <a:solidFill>
                  <a:srgbClr val="70816B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70816B"/>
                </a:solidFill>
                <a:latin typeface="Segoe UI"/>
                <a:ea typeface="Segoe UI"/>
                <a:cs typeface="Segoe UI"/>
              </a:rPr>
              <a:t>Matplotlib: grace_hopper.jpg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4CC82-78FB-47A1-A676-612C1C24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Приложение, база, интерфейс и проверка: FaceLab</a:t>
            </a:r>
          </a:p>
          <a:p xmlns:a="http://schemas.openxmlformats.org/drawingml/2006/main">
            <a:pPr>
              <a:defRPr sz="1875" b="0">
                <a:solidFill>
                  <a:srgbClr val="193C3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93C34"/>
                </a:solidFill>
                <a:latin typeface="Segoe UI"/>
                <a:ea typeface="Segoe UI"/>
                <a:cs typeface="Segoe UI"/>
              </a:rPr>
              <a:t>При разработке использовался ИИ-ассистент Codex</a:t>
            </a:r>
          </a:p>
        </p:txBody>
      </p:sp>
    </p:spTree>
    <p:extLst>
      <p:ext uri="{BB962C8B-B14F-4D97-AF65-F5344CB8AC3E}">
        <p14:creationId xmlns:p14="http://schemas.microsoft.com/office/powerpoint/2010/main" val="748599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2026-10-19T19:26:10.9070000Z</dcterms:created>
  <dcterms:modified xsi:type="dcterms:W3CDTF">2026-10-19T19:26:10.9070000Z</dcterms:modified>
</coreProperties>
</file>